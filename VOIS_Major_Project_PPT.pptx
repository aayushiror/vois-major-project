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4" d="100"/>
          <a:sy n="64" d="100"/>
        </p:scale>
        <p:origin x="668" y="5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58280" y="3521161"/>
            <a:ext cx="8128520" cy="861497"/>
          </a:xfrm>
        </p:spPr>
        <p:txBody>
          <a:bodyPr vert="horz" lIns="91440" tIns="45720" rIns="91440" bIns="45720" rtlCol="0" anchor="t">
            <a:normAutofit/>
          </a:bodyPr>
          <a:lstStyle/>
          <a:p>
            <a:r>
              <a:rPr lang="en-US" b="0" dirty="0">
                <a:solidFill>
                  <a:schemeClr val="tx1"/>
                </a:solidFill>
              </a:rPr>
              <a:t>Student Name: </a:t>
            </a:r>
            <a:r>
              <a:rPr lang="en-US" b="0" dirty="0" err="1">
                <a:solidFill>
                  <a:schemeClr val="tx1"/>
                </a:solidFill>
              </a:rPr>
              <a:t>Aayushi</a:t>
            </a:r>
            <a:r>
              <a:rPr lang="en-US" b="0" dirty="0">
                <a:solidFill>
                  <a:schemeClr val="tx1"/>
                </a:solidFill>
              </a:rPr>
              <a:t> Engineer </a:t>
            </a:r>
            <a:endParaRPr lang="en-IN" b="0" dirty="0">
              <a:solidFill>
                <a:schemeClr val="tx1"/>
              </a:solidFill>
            </a:endParaRPr>
          </a:p>
          <a:p>
            <a:r>
              <a:rPr lang="en-US" b="0" dirty="0">
                <a:solidFill>
                  <a:schemeClr val="tx1"/>
                </a:solidFill>
              </a:rPr>
              <a:t>College Name: Silver Oak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79581" y="2777713"/>
            <a:ext cx="10045958"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58280" y="4647424"/>
            <a:ext cx="7351706" cy="369332"/>
          </a:xfrm>
          <a:prstGeom prst="rect">
            <a:avLst/>
          </a:prstGeom>
          <a:noFill/>
        </p:spPr>
        <p:txBody>
          <a:bodyPr wrap="square" rtlCol="0">
            <a:spAutoFit/>
          </a:bodyPr>
          <a:lstStyle/>
          <a:p>
            <a:r>
              <a:rPr lang="en-US" b="1" dirty="0"/>
              <a:t>AICTE STU ID : (</a:t>
            </a:r>
            <a:r>
              <a:rPr lang="en-GB" dirty="0"/>
              <a:t>STU6a6c75e6bbc031785492966 </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78905" y="1461052"/>
            <a:ext cx="7961244" cy="4154557"/>
          </a:xfrm>
        </p:spPr>
        <p:txBody>
          <a:bodyPr vert="horz" lIns="91440" tIns="45720" rIns="91440" bIns="45720" rtlCol="0" anchor="t">
            <a:normAutofit/>
          </a:bodyPr>
          <a:lstStyle/>
          <a:p>
            <a:pPr marL="0" lvl="0" indent="0">
              <a:buNone/>
            </a:pPr>
            <a:r>
              <a:rPr lang="en-GB" b="1" dirty="0">
                <a:solidFill>
                  <a:schemeClr val="tx1"/>
                </a:solidFill>
              </a:rPr>
              <a:t>Problem Statement: </a:t>
            </a:r>
            <a:r>
              <a:rPr lang="en-US" dirty="0">
                <a:solidFill>
                  <a:schemeClr val="tx1"/>
                </a:solidFill>
              </a:rPr>
              <a:t>Weather fluctuations, farming practices, and input utilization create inconsistent seasonal agricultural yield and financial performance.</a:t>
            </a:r>
            <a:endParaRPr lang="en-GB" dirty="0">
              <a:solidFill>
                <a:schemeClr val="tx1"/>
              </a:solidFill>
            </a:endParaRPr>
          </a:p>
          <a:p>
            <a:pPr marL="0" indent="0">
              <a:buNone/>
            </a:pPr>
            <a:r>
              <a:rPr lang="en-GB" b="1" dirty="0">
                <a:solidFill>
                  <a:schemeClr val="tx1"/>
                </a:solidFill>
              </a:rPr>
              <a:t>Core Objectives:</a:t>
            </a:r>
          </a:p>
          <a:p>
            <a:r>
              <a:rPr lang="en-US" dirty="0">
                <a:solidFill>
                  <a:schemeClr val="tx1"/>
                </a:solidFill>
              </a:rPr>
              <a:t>Identify seasonal patterns in environmental conditions, soil health, and resource consumption.</a:t>
            </a:r>
          </a:p>
          <a:p>
            <a:r>
              <a:rPr lang="en-US" dirty="0">
                <a:solidFill>
                  <a:schemeClr val="tx1"/>
                </a:solidFill>
              </a:rPr>
              <a:t>Evaluate crop yield and economic outcomes (costs, revenues, profits) across cropping seasons.</a:t>
            </a:r>
          </a:p>
          <a:p>
            <a:r>
              <a:rPr lang="en-US" dirty="0">
                <a:solidFill>
                  <a:schemeClr val="tx1"/>
                </a:solidFill>
              </a:rPr>
              <a:t>Deliver evidence-based recommendations for resource management, risk reduction, and profit maximization.</a:t>
            </a:r>
          </a:p>
          <a:p>
            <a:pPr marL="0" lvl="0" indent="0">
              <a:buNone/>
            </a:pPr>
            <a:endParaRPr lang="en-GB"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72774" y="348013"/>
            <a:ext cx="6157844" cy="973892"/>
          </a:xfrm>
        </p:spPr>
        <p:txBody>
          <a:bodyPr>
            <a:normAutofit/>
          </a:bodyPr>
          <a:lstStyle/>
          <a:p>
            <a:pPr algn="just"/>
            <a:r>
              <a:rPr lang="en-GB" dirty="0"/>
              <a:t>Project Description:</a:t>
            </a:r>
            <a:endParaRPr lang="en-IN" sz="20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DF1790D6-E5FA-9A6E-2E00-D5A558506BB1}"/>
              </a:ext>
            </a:extLst>
          </p:cNvPr>
          <p:cNvSpPr txBox="1"/>
          <p:nvPr/>
        </p:nvSpPr>
        <p:spPr>
          <a:xfrm>
            <a:off x="272774" y="2166731"/>
            <a:ext cx="9223513" cy="2862322"/>
          </a:xfrm>
          <a:prstGeom prst="rect">
            <a:avLst/>
          </a:prstGeom>
          <a:noFill/>
        </p:spPr>
        <p:txBody>
          <a:bodyPr wrap="square" rtlCol="0">
            <a:spAutoFit/>
          </a:bodyPr>
          <a:lstStyle/>
          <a:p>
            <a:r>
              <a:rPr lang="en-US" dirty="0"/>
              <a:t>The Seasonal Agriculture Performance Analysis project is a comprehensive data analytics initiative examining 4,000 farm-level observation records across 8 Indian states and 10 districts. By synthesizing environmental metrics (rainfall, temperature, humidity, sunlight), soil health factors (pH, moisture, NPK), farm input choices (irrigation methods, seed quality, fertilizers, pesticides), and production outputs, the project evaluates crop yield and financial viability across the Kharif, Rabi, and Zaid cropping cycles. The primary focus is to identify key drivers of agricultural profitability, model operational risk (such as disease and pest outbreaks), and optimize resource efficiency—particularly water and nutrient application—to promote sustainable and profitable farming practices.</a:t>
            </a:r>
            <a:endParaRPr lang="en-GB"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60" y="1991360"/>
            <a:ext cx="8780450" cy="4185444"/>
          </a:xfrm>
        </p:spPr>
        <p:txBody>
          <a:bodyPr>
            <a:noAutofit/>
          </a:bodyPr>
          <a:lstStyle/>
          <a:p>
            <a:r>
              <a:rPr lang="en-US" sz="1800" dirty="0"/>
              <a:t>Farmers &amp; Farm Managers: Benefit from actionable insights on optimal seasonal crop selection, precision input usage, and efficient irrigation techniques (e.g., Drip vs. Flood) to lower input costs and boost net profitability. </a:t>
            </a:r>
          </a:p>
          <a:p>
            <a:r>
              <a:rPr lang="en-US" sz="1800" dirty="0"/>
              <a:t>Agricultural Extension Officers: Rely on localized statistical findings regarding soil parameters, pest risks, and resource consumption to deliver targeted, evidence-based recommendations to farming communities. </a:t>
            </a:r>
          </a:p>
          <a:p>
            <a:r>
              <a:rPr lang="en-US" sz="1800" dirty="0" err="1"/>
              <a:t>AgTech</a:t>
            </a:r>
            <a:r>
              <a:rPr lang="en-US" sz="1800" dirty="0"/>
              <a:t> &amp; Agri-Finance Organizations: Utilize profit, revenue, and yield metrics to design tailored agricultural technology tools, perform data-backed credit risk assessments, and structure crop insurance products. </a:t>
            </a:r>
          </a:p>
          <a:p>
            <a:r>
              <a:rPr lang="en-US" sz="1800" dirty="0"/>
              <a:t>Policy Makers &amp; Regional Planners: Leverage state and district-level comparative data to guide resource allocation, inform agricultural subsidy programs, and design effective water and soil management initiatives. </a:t>
            </a:r>
          </a:p>
          <a:p>
            <a:pPr algn="just"/>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33618" y="1373409"/>
            <a:ext cx="7600443" cy="3596640"/>
          </a:xfrm>
        </p:spPr>
        <p:txBody>
          <a:bodyPr/>
          <a:lstStyle/>
          <a:p>
            <a:pPr lvl="1">
              <a:lnSpc>
                <a:spcPct val="150000"/>
              </a:lnSpc>
            </a:pPr>
            <a:r>
              <a:rPr lang="en-IN" dirty="0"/>
              <a:t>Python</a:t>
            </a:r>
          </a:p>
          <a:p>
            <a:pPr lvl="1">
              <a:lnSpc>
                <a:spcPct val="150000"/>
              </a:lnSpc>
            </a:pPr>
            <a:r>
              <a:rPr lang="en-IN" dirty="0"/>
              <a:t>Matplotlib</a:t>
            </a:r>
          </a:p>
          <a:p>
            <a:pPr lvl="1">
              <a:lnSpc>
                <a:spcPct val="150000"/>
              </a:lnSpc>
            </a:pPr>
            <a:r>
              <a:rPr lang="en-IN" dirty="0"/>
              <a:t>Seaborn</a:t>
            </a:r>
          </a:p>
          <a:p>
            <a:pPr lvl="1">
              <a:lnSpc>
                <a:spcPct val="150000"/>
              </a:lnSpc>
            </a:pPr>
            <a:r>
              <a:rPr lang="en-IN" dirty="0"/>
              <a:t>Pandas</a:t>
            </a:r>
          </a:p>
          <a:p>
            <a:pPr lvl="1">
              <a:lnSpc>
                <a:spcPct val="150000"/>
              </a:lnSpc>
            </a:pPr>
            <a:r>
              <a:rPr lang="en-IN" dirty="0" err="1"/>
              <a:t>numpy</a:t>
            </a:r>
            <a:endParaRPr lang="en-IN" dirty="0"/>
          </a:p>
          <a:p>
            <a:pPr lvl="1">
              <a:lnSpc>
                <a:spcPct val="150000"/>
              </a:lnSpc>
            </a:pPr>
            <a:r>
              <a:rPr lang="en-IN" dirty="0"/>
              <a:t>google </a:t>
            </a:r>
            <a:r>
              <a:rPr lang="en-IN" dirty="0" err="1"/>
              <a:t>colab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1000"/>
                                        <p:tgtEl>
                                          <p:spTgt spid="7">
                                            <p:txEl>
                                              <p:pRg st="4" end="4"/>
                                            </p:txEl>
                                          </p:spTgt>
                                        </p:tgtEl>
                                      </p:cBhvr>
                                    </p:animEffect>
                                    <p:anim calcmode="lin" valueType="num">
                                      <p:cBhvr>
                                        <p:cTn id="4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fade">
                                      <p:cBhvr>
                                        <p:cTn id="47" dur="1000"/>
                                        <p:tgtEl>
                                          <p:spTgt spid="7">
                                            <p:txEl>
                                              <p:pRg st="5" end="5"/>
                                            </p:txEl>
                                          </p:spTgt>
                                        </p:tgtEl>
                                      </p:cBhvr>
                                    </p:animEffect>
                                    <p:anim calcmode="lin" valueType="num">
                                      <p:cBhvr>
                                        <p:cTn id="4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B90BF3F5-1C83-4C75-B09F-51F179F8C73D}"/>
              </a:ext>
            </a:extLst>
          </p:cNvPr>
          <p:cNvPicPr>
            <a:picLocks noChangeAspect="1"/>
          </p:cNvPicPr>
          <p:nvPr/>
        </p:nvPicPr>
        <p:blipFill>
          <a:blip r:embed="rId3"/>
          <a:srcRect l="6620" t="24637" r="1685" b="11885"/>
          <a:stretch>
            <a:fillRect/>
          </a:stretch>
        </p:blipFill>
        <p:spPr>
          <a:xfrm>
            <a:off x="205409" y="1378718"/>
            <a:ext cx="11179427" cy="435333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B4042248-B513-3F77-7A46-D695D7931B5B}"/>
              </a:ext>
            </a:extLst>
          </p:cNvPr>
          <p:cNvSpPr>
            <a:spLocks noGrp="1"/>
          </p:cNvSpPr>
          <p:nvPr>
            <p:ph type="body" sz="quarter" idx="12"/>
          </p:nvPr>
        </p:nvSpPr>
        <p:spPr/>
        <p:txBody>
          <a:bodyPr/>
          <a:lstStyle/>
          <a:p>
            <a:endParaRPr lang="en-GB"/>
          </a:p>
        </p:txBody>
      </p:sp>
      <p:pic>
        <p:nvPicPr>
          <p:cNvPr id="9" name="Picture 8">
            <a:extLst>
              <a:ext uri="{FF2B5EF4-FFF2-40B4-BE49-F238E27FC236}">
                <a16:creationId xmlns:a16="http://schemas.microsoft.com/office/drawing/2014/main" id="{6E0079DB-5161-959D-6F01-25FAB448721A}"/>
              </a:ext>
            </a:extLst>
          </p:cNvPr>
          <p:cNvPicPr>
            <a:picLocks noChangeAspect="1"/>
          </p:cNvPicPr>
          <p:nvPr/>
        </p:nvPicPr>
        <p:blipFill>
          <a:blip r:embed="rId3"/>
          <a:srcRect t="23045" r="8206" b="10289"/>
          <a:stretch>
            <a:fillRect/>
          </a:stretch>
        </p:blipFill>
        <p:spPr>
          <a:xfrm>
            <a:off x="218661" y="1466692"/>
            <a:ext cx="11191461" cy="4572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2E086DC9-16DE-0F7B-411E-68DCB9AAE38C}"/>
              </a:ext>
            </a:extLst>
          </p:cNvPr>
          <p:cNvPicPr>
            <a:picLocks noChangeAspect="1"/>
          </p:cNvPicPr>
          <p:nvPr/>
        </p:nvPicPr>
        <p:blipFill>
          <a:blip r:embed="rId3"/>
          <a:srcRect t="12753" b="10435"/>
          <a:stretch>
            <a:fillRect/>
          </a:stretch>
        </p:blipFill>
        <p:spPr>
          <a:xfrm>
            <a:off x="79513" y="1275371"/>
            <a:ext cx="12192000" cy="526774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47BB6C2A-09C9-C145-8CA9-C2D00E2339A2}"/>
              </a:ext>
            </a:extLst>
          </p:cNvPr>
          <p:cNvSpPr>
            <a:spLocks noGrp="1"/>
          </p:cNvSpPr>
          <p:nvPr>
            <p:ph type="body" sz="quarter" idx="12"/>
          </p:nvPr>
        </p:nvSpPr>
        <p:spPr/>
        <p:txBody>
          <a:bodyPr/>
          <a:lstStyle/>
          <a:p>
            <a:endParaRPr lang="en-GB"/>
          </a:p>
        </p:txBody>
      </p:sp>
      <p:pic>
        <p:nvPicPr>
          <p:cNvPr id="9" name="Picture 8">
            <a:extLst>
              <a:ext uri="{FF2B5EF4-FFF2-40B4-BE49-F238E27FC236}">
                <a16:creationId xmlns:a16="http://schemas.microsoft.com/office/drawing/2014/main" id="{D79747CB-74E6-5A4C-2FD6-8C0EB959B455}"/>
              </a:ext>
            </a:extLst>
          </p:cNvPr>
          <p:cNvPicPr>
            <a:picLocks noChangeAspect="1"/>
          </p:cNvPicPr>
          <p:nvPr/>
        </p:nvPicPr>
        <p:blipFill>
          <a:blip r:embed="rId3"/>
          <a:srcRect t="12609" r="870" b="12319"/>
          <a:stretch>
            <a:fillRect/>
          </a:stretch>
        </p:blipFill>
        <p:spPr>
          <a:xfrm>
            <a:off x="0" y="864704"/>
            <a:ext cx="12085983" cy="514847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C689A4C1-6F79-99BA-15F1-0BF17275410E}"/>
              </a:ext>
            </a:extLst>
          </p:cNvPr>
          <p:cNvSpPr>
            <a:spLocks noGrp="1"/>
          </p:cNvSpPr>
          <p:nvPr>
            <p:ph type="body" sz="quarter" idx="12"/>
          </p:nvPr>
        </p:nvSpPr>
        <p:spPr/>
        <p:txBody>
          <a:bodyPr/>
          <a:lstStyle/>
          <a:p>
            <a:endParaRPr lang="en-GB"/>
          </a:p>
        </p:txBody>
      </p:sp>
      <p:pic>
        <p:nvPicPr>
          <p:cNvPr id="9" name="Picture 8">
            <a:extLst>
              <a:ext uri="{FF2B5EF4-FFF2-40B4-BE49-F238E27FC236}">
                <a16:creationId xmlns:a16="http://schemas.microsoft.com/office/drawing/2014/main" id="{6FF6D39E-173B-2CE0-A33D-6817E6124E66}"/>
              </a:ext>
            </a:extLst>
          </p:cNvPr>
          <p:cNvPicPr>
            <a:picLocks noChangeAspect="1"/>
          </p:cNvPicPr>
          <p:nvPr/>
        </p:nvPicPr>
        <p:blipFill>
          <a:blip r:embed="rId3"/>
          <a:srcRect t="12463" b="11449"/>
          <a:stretch>
            <a:fillRect/>
          </a:stretch>
        </p:blipFill>
        <p:spPr>
          <a:xfrm>
            <a:off x="0" y="1201586"/>
            <a:ext cx="12192000" cy="521804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61FBCE89-1508-0431-E5CA-592CD0B6B2B6}"/>
              </a:ext>
            </a:extLst>
          </p:cNvPr>
          <p:cNvSpPr txBox="1"/>
          <p:nvPr/>
        </p:nvSpPr>
        <p:spPr>
          <a:xfrm>
            <a:off x="675957" y="1608410"/>
            <a:ext cx="5764887" cy="1477328"/>
          </a:xfrm>
          <a:prstGeom prst="rect">
            <a:avLst/>
          </a:prstGeom>
          <a:noFill/>
        </p:spPr>
        <p:txBody>
          <a:bodyPr wrap="square">
            <a:spAutoFit/>
          </a:bodyPr>
          <a:lstStyle/>
          <a:p>
            <a:r>
              <a:rPr lang="en-GB" dirty="0"/>
              <a:t>1. Predictive Analytics &amp; Machine Learning</a:t>
            </a:r>
          </a:p>
          <a:p>
            <a:r>
              <a:rPr lang="en-GB" dirty="0"/>
              <a:t>2. Real-Time IoT &amp; Smart Farming Integration</a:t>
            </a:r>
          </a:p>
          <a:p>
            <a:r>
              <a:rPr lang="en-GB" dirty="0"/>
              <a:t>3. Geospatial &amp; Remote Sensing Intelligence</a:t>
            </a:r>
          </a:p>
          <a:p>
            <a:r>
              <a:rPr lang="en-GB" dirty="0"/>
              <a:t>4. Financial &amp; Market Intelligence</a:t>
            </a:r>
          </a:p>
          <a:p>
            <a:r>
              <a:rPr lang="en-GB" dirty="0"/>
              <a:t>5. Accessible Decision Support Systems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91997C2B-D390-B676-087B-826CDF45C111}"/>
              </a:ext>
            </a:extLst>
          </p:cNvPr>
          <p:cNvSpPr txBox="1"/>
          <p:nvPr/>
        </p:nvSpPr>
        <p:spPr>
          <a:xfrm>
            <a:off x="576470" y="1815179"/>
            <a:ext cx="6102626" cy="400110"/>
          </a:xfrm>
          <a:prstGeom prst="rect">
            <a:avLst/>
          </a:prstGeom>
          <a:noFill/>
        </p:spPr>
        <p:txBody>
          <a:bodyPr wrap="square">
            <a:spAutoFit/>
          </a:bodyPr>
          <a:lstStyle/>
          <a:p>
            <a:pPr algn="l"/>
            <a:r>
              <a:rPr lang="en-GB" sz="2000" dirty="0"/>
              <a:t>https://github.com/aayushiror/VOIS-Major-Project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B573CB7-8FEA-1C65-8DD3-3DBEE0A0F45F}"/>
              </a:ext>
            </a:extLst>
          </p:cNvPr>
          <p:cNvPicPr>
            <a:picLocks noChangeAspect="1"/>
          </p:cNvPicPr>
          <p:nvPr/>
        </p:nvPicPr>
        <p:blipFill>
          <a:blip r:embed="rId3"/>
          <a:srcRect l="28206" t="18303" r="28179" b="26957"/>
          <a:stretch>
            <a:fillRect/>
          </a:stretch>
        </p:blipFill>
        <p:spPr>
          <a:xfrm>
            <a:off x="924387" y="1452920"/>
            <a:ext cx="7854528" cy="521204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613</TotalTime>
  <Words>454</Words>
  <Application>Microsoft Office PowerPoint</Application>
  <PresentationFormat>Widescreen</PresentationFormat>
  <Paragraphs>43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AAYUSHI ENGINEER</cp:lastModifiedBy>
  <cp:revision>99</cp:revision>
  <dcterms:created xsi:type="dcterms:W3CDTF">2021-07-11T13:13:15Z</dcterms:created>
  <dcterms:modified xsi:type="dcterms:W3CDTF">2026-09-15T18:16:36Z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